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2743200" cy="27432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5DCAA5"/>
                </a:solidFill>
              </a:rPr>
              <a:t>HR ATTRITION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Documentation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</a:rPr>
              <a:t>Synthetic Data → Noise Injection → Python Cleaning → Power BI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337560"/>
            <a:ext cx="1920240" cy="822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5DCA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355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1F5EE"/>
                </a:solidFill>
              </a:rPr>
              <a:t>Employees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3337560"/>
            <a:ext cx="1920240" cy="822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5DCA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3355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~30%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1F5EE"/>
                </a:solidFill>
              </a:rPr>
              <a:t>Dirty Cells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3337560"/>
            <a:ext cx="1920240" cy="822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5DCA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355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09160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1F5EE"/>
                </a:solidFill>
              </a:rPr>
              <a:t>Error Types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3337560"/>
            <a:ext cx="1920240" cy="822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5DCA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33558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1F5EE"/>
                </a:solidFill>
              </a:rPr>
              <a:t>Chart Types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Dylitica Assignment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PROJECT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1508760" cy="73152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1051560"/>
            <a:ext cx="548640" cy="548640"/>
          </a:xfrm>
          <a:prstGeom prst="ellipse">
            <a:avLst/>
          </a:prstGeom>
          <a:solidFill>
            <a:srgbClr val="014F59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Generate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500 synthetic employees created with NumPy (seed 42) across 8 columns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417320"/>
            <a:ext cx="20116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2029968" y="868680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868680"/>
            <a:ext cx="1508760" cy="73152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3" name="Shape 11"/>
          <p:cNvSpPr/>
          <p:nvPr/>
        </p:nvSpPr>
        <p:spPr>
          <a:xfrm>
            <a:off x="2510028" y="1051560"/>
            <a:ext cx="548640" cy="548640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14" name="Text 12"/>
          <p:cNvSpPr/>
          <p:nvPr/>
        </p:nvSpPr>
        <p:spPr>
          <a:xfrm>
            <a:off x="2510028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75688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Inject Noise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21408" y="21945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~30% dirty cells added: typos, nulls, outliers, duplicates, bad dates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38728" y="1417320"/>
            <a:ext cx="20116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3739896" y="868680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39896" y="868680"/>
            <a:ext cx="150876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0" name="Shape 18"/>
          <p:cNvSpPr/>
          <p:nvPr/>
        </p:nvSpPr>
        <p:spPr>
          <a:xfrm>
            <a:off x="4219956" y="1051560"/>
            <a:ext cx="548640" cy="54864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1" name="Text 19"/>
          <p:cNvSpPr/>
          <p:nvPr/>
        </p:nvSpPr>
        <p:spPr>
          <a:xfrm>
            <a:off x="4219956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85616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Python Cleaning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31336" y="21945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Jupyter notebook cleaning every column with pandas + IQR method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48656" y="1417320"/>
            <a:ext cx="20116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5449824" y="868680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49824" y="868680"/>
            <a:ext cx="1508760" cy="73152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29884" y="1051560"/>
            <a:ext cx="548640" cy="5486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8" name="Text 26"/>
          <p:cNvSpPr/>
          <p:nvPr/>
        </p:nvSpPr>
        <p:spPr>
          <a:xfrm>
            <a:off x="5929884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95544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Power Query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41264" y="21945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Data types fixed, 4 custom columns: AgeGroup, IncomeBand, TenureGroup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58584" y="1417320"/>
            <a:ext cx="201168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ysDot"/>
          </a:ln>
        </p:spPr>
      </p:sp>
      <p:sp>
        <p:nvSpPr>
          <p:cNvPr id="32" name="Shape 30"/>
          <p:cNvSpPr/>
          <p:nvPr/>
        </p:nvSpPr>
        <p:spPr>
          <a:xfrm>
            <a:off x="7159752" y="868680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59752" y="868680"/>
            <a:ext cx="1508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Shape 32"/>
          <p:cNvSpPr/>
          <p:nvPr/>
        </p:nvSpPr>
        <p:spPr>
          <a:xfrm>
            <a:off x="7639812" y="1051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7639812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05472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DAX + Dashboard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51192" y="219456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measures + 4-page interactive Power BI dashboard with 15+ charts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End-to-end HR analytics project covering data engineering, statistical cleaning and business intelligence visualization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 1 — SYNTHETIC DATA GENERATION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572000" cy="41605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numpy as np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0185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datetime, timedelta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51333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np.random.seed(42)   # reproducible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500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92481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13055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33629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"EmployeeID": range(1001, 1501),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"Age": np.random.randint(22,65,n),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74777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"Department": np.random.choice(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95351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["Sales","IT","HR","Finance"],n),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15925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"MonthlyIncome": np.random.uniform(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3000,12000,n).round(2),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357073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"YearsAtCompany": np.random.randint(0,30,n),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77647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"Attrition": np.random.choice(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98221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["Yes","No"],n,p=[0.2,0.8]),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18795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"SatisfactionScore": np.random.randint(1,6,n)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39369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599432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 = pd.DataFrame(data)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06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4F59"/>
                </a:solidFill>
              </a:rPr>
              <a:t>8 COLUMNS GENERATED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1234440"/>
            <a:ext cx="37033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20640" y="1234440"/>
            <a:ext cx="54864" cy="384048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1271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EmployeeID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1271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1001–1500 unique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20640" y="1691640"/>
            <a:ext cx="37033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20640" y="1691640"/>
            <a:ext cx="54864" cy="384048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1728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0" y="1728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22–64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20640" y="2148840"/>
            <a:ext cx="37033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20640" y="2148840"/>
            <a:ext cx="54864" cy="384048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21854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Department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1854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Sales / IT / HR / Finance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20640" y="2606040"/>
            <a:ext cx="37033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120640" y="2606040"/>
            <a:ext cx="54864" cy="384048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2642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MonthlyIncome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58000" y="2642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$3,000–$12,000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20640" y="3063240"/>
            <a:ext cx="37033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20640" y="3063240"/>
            <a:ext cx="54864" cy="384048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0" y="3099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YearsAtCompany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58000" y="3099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0–29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120640" y="3520440"/>
            <a:ext cx="37033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120640" y="3520440"/>
            <a:ext cx="54864" cy="384048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47" name="Text 45"/>
          <p:cNvSpPr/>
          <p:nvPr/>
        </p:nvSpPr>
        <p:spPr>
          <a:xfrm>
            <a:off x="5257800" y="3557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Attrition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58000" y="3557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Yes 20% / No 80%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20640" y="3977640"/>
            <a:ext cx="37033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120640" y="3977640"/>
            <a:ext cx="54864" cy="384048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51" name="Text 49"/>
          <p:cNvSpPr/>
          <p:nvPr/>
        </p:nvSpPr>
        <p:spPr>
          <a:xfrm>
            <a:off x="5257800" y="4014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LastPromotionDate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58000" y="4014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~4 year range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120640" y="4434840"/>
            <a:ext cx="37033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120640" y="4434840"/>
            <a:ext cx="54864" cy="384048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55" name="Text 53"/>
          <p:cNvSpPr/>
          <p:nvPr/>
        </p:nvSpPr>
        <p:spPr>
          <a:xfrm>
            <a:off x="5257800" y="44714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SatisfactionScore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58000" y="44714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1–5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 2 — INJECTING DIRTY DATA (~30%)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 simulate a realistic messy file, 8 types of errors were deliberately injected into the clean data: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11430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B4A"/>
                </a:solidFill>
              </a:rPr>
              <a:t>25%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Missing Values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Age &amp; SatisfactionScore set to None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96312" y="123444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234440"/>
            <a:ext cx="64008" cy="11430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33472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Department Typos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33472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Saless, It , H R, Finence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72584" y="123444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234440"/>
            <a:ext cx="64008" cy="11430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9744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Income Outliers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9744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 to $200K–$500K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48856" y="123444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234440"/>
            <a:ext cx="64008" cy="11430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2" name="Text 20"/>
          <p:cNvSpPr/>
          <p:nvPr/>
        </p:nvSpPr>
        <p:spPr>
          <a:xfrm>
            <a:off x="6986016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B4A"/>
                </a:solidFill>
              </a:rPr>
              <a:t>23%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86016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Negative Tenure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86016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YearsAtCompany made negative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5603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560320"/>
            <a:ext cx="64008" cy="11430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25%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Invalid Dates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 to '2025-13-45'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96312" y="25603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96312" y="2560320"/>
            <a:ext cx="64008" cy="11430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2" name="Text 30"/>
          <p:cNvSpPr/>
          <p:nvPr/>
        </p:nvSpPr>
        <p:spPr>
          <a:xfrm>
            <a:off x="2633472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30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633472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Duplicate Rows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33472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Random rows appended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72584" y="25603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72584" y="2560320"/>
            <a:ext cx="64008" cy="11430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7" name="Text 35"/>
          <p:cNvSpPr/>
          <p:nvPr/>
        </p:nvSpPr>
        <p:spPr>
          <a:xfrm>
            <a:off x="4809744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B4A"/>
                </a:solidFill>
              </a:rPr>
              <a:t>10%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809744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Boolean as Y/N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9744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Attrition → Y / 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48856" y="2560320"/>
            <a:ext cx="20116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48856" y="2560320"/>
            <a:ext cx="64008" cy="11430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42" name="Text 40"/>
          <p:cNvSpPr/>
          <p:nvPr/>
        </p:nvSpPr>
        <p:spPr>
          <a:xfrm>
            <a:off x="6986016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5%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986016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Numeric as Text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86016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Age → '45 years'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023360"/>
            <a:ext cx="8503920" cy="6400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4F59"/>
                </a:solidFill>
              </a:rPr>
              <a:t>✓ Verification routine confirmed dirty ratio &gt; 30% — then exported as hr_attrition_dirty.csv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 3 — PYTHON DATA CLEANING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029200" cy="41605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 — Load dirty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06527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pd.read_csv(r'...\hr_attrition_dirty.csv')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4036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duplicates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7419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9110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0802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 Department typos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24942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dept_map = {'Finence':'Finance','H R':'HR'...}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41858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df['Department'] = df['Department'].replace(dept_map)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58775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75691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Standardize Attrition + fill mode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df['Attrition'] = df['Attrition'].replace(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09524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{'Y':'Yes','N':'No'})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326440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df['Attrition'] = df['Attrition'].fillna(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343357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df['Attrition'].mode()[0])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360273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37719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IQR outlier cap (floored at 0)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32120" y="850392"/>
            <a:ext cx="292608" cy="29260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850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97880" y="832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Remove duplicates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97880" y="1024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drop_duplicates()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32120" y="1307592"/>
            <a:ext cx="292608" cy="29260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1307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97880" y="1289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Fix dept typos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14813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 typos mapped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32120" y="1764792"/>
            <a:ext cx="292608" cy="29260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97880" y="1746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Standardize Attrition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97880" y="1938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Y/N→Yes/No, fill mode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32120" y="2221992"/>
            <a:ext cx="292608" cy="29260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97880" y="2203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Fix 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97880" y="23957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Strip text, fill median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32120" y="2679192"/>
            <a:ext cx="292608" cy="29260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97880" y="2660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IQR income cleaning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97880" y="28529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Outliers capped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32120" y="3136392"/>
            <a:ext cx="292608" cy="29260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44" name="Text 42"/>
          <p:cNvSpPr/>
          <p:nvPr/>
        </p:nvSpPr>
        <p:spPr>
          <a:xfrm>
            <a:off x="553212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97880" y="3118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Fix negative tenure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97880" y="3310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abs() applied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32120" y="3593592"/>
            <a:ext cx="292608" cy="29260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48" name="Text 46"/>
          <p:cNvSpPr/>
          <p:nvPr/>
        </p:nvSpPr>
        <p:spPr>
          <a:xfrm>
            <a:off x="553212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07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897880" y="3575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Fix satisfaction nulls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97880" y="37673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Filled with median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32120" y="4050792"/>
            <a:ext cx="292608" cy="29260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52" name="Text 50"/>
          <p:cNvSpPr/>
          <p:nvPr/>
        </p:nvSpPr>
        <p:spPr>
          <a:xfrm>
            <a:off x="553212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897880" y="4032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Fix invalid dates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97880" y="4224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YYYY-MM-DD format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532120" y="4507992"/>
            <a:ext cx="292608" cy="29260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56" name="Text 54"/>
          <p:cNvSpPr/>
          <p:nvPr/>
        </p:nvSpPr>
        <p:spPr>
          <a:xfrm>
            <a:off x="5532120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09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897880" y="4489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Export clean CSV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897880" y="46817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clean_powerbi.csv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 4 — POWER QUERY TRANSFORMS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5A30"/>
                </a:solidFill>
              </a:rPr>
              <a:t>COLUMN DATA TYPES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3840480" cy="27432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EmployeeID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307592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534AB7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4AB7"/>
                </a:solidFill>
              </a:rPr>
              <a:t>Whole Number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600200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534AB7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591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4AB7"/>
                </a:solidFill>
              </a:rPr>
              <a:t>Whole Number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1847088"/>
            <a:ext cx="3840480" cy="27432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AgeGroup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68880" y="1892808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028090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18836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Text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2139696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176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Department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68880" y="2185416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028090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468880" y="2176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Text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2432304"/>
            <a:ext cx="3840480" cy="27432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MonthlyIncome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2478024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534AB7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2468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4AB7"/>
                </a:solidFill>
              </a:rPr>
              <a:t>Decimal Number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2724912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761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IncomeBand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2770632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028090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468880" y="27614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Text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" y="3017520"/>
            <a:ext cx="3840480" cy="27432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YearsAtCompany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68880" y="3063240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534AB7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468880" y="30540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4AB7"/>
                </a:solidFill>
              </a:rPr>
              <a:t>Whole Number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1480" y="3310128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346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TenureGroup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68880" y="3355848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468880" y="33467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Text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11480" y="3602736"/>
            <a:ext cx="3840480" cy="27432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639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Attrition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68880" y="3648456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468880" y="36393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Text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3895344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3931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SatisfactionScore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468880" y="3941064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534AB7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468880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4AB7"/>
                </a:solidFill>
              </a:rPr>
              <a:t>Whole Number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1480" y="4187952"/>
            <a:ext cx="3840480" cy="27432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224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LastPromotionDate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468880" y="4233672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D85A30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468880" y="4224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5A30"/>
                </a:solidFill>
              </a:rPr>
              <a:t>Date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11480" y="448056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" y="4517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PromotionYear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468880" y="4526280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534AB7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2468880" y="45171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4AB7"/>
                </a:solidFill>
              </a:rPr>
              <a:t>Whole Number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709160" y="777240"/>
            <a:ext cx="41148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9204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5A30"/>
                </a:solidFill>
              </a:rPr>
              <a:t>NEW CUSTOM COLUMNS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00600" y="1261872"/>
            <a:ext cx="3840480" cy="100584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57" name="Text 55"/>
          <p:cNvSpPr/>
          <p:nvPr/>
        </p:nvSpPr>
        <p:spPr>
          <a:xfrm>
            <a:off x="4892040" y="1316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AgeGroup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92040" y="1581912"/>
            <a:ext cx="3657600" cy="5943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59" name="Text 57"/>
          <p:cNvSpPr/>
          <p:nvPr/>
        </p:nvSpPr>
        <p:spPr>
          <a:xfrm>
            <a:off x="4956048" y="16093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[Age] &lt; 30 then "Under 30"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[Age] &lt; 40 then "30 - 39"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[Age] &lt; 50 then "40 - 49"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"50+"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00600" y="2359152"/>
            <a:ext cx="3840480" cy="82296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61" name="Text 59"/>
          <p:cNvSpPr/>
          <p:nvPr/>
        </p:nvSpPr>
        <p:spPr>
          <a:xfrm>
            <a:off x="4892040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IncomeBand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892040" y="2679192"/>
            <a:ext cx="3657600" cy="411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3" name="Text 61"/>
          <p:cNvSpPr/>
          <p:nvPr/>
        </p:nvSpPr>
        <p:spPr>
          <a:xfrm>
            <a:off x="4956048" y="270662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[MonthlyIncome] &lt; 5000 then "Low"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[MonthlyIncome] &lt; 10000 then "Mid"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"High"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00600" y="3273552"/>
            <a:ext cx="3840480" cy="100584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65" name="Text 63"/>
          <p:cNvSpPr/>
          <p:nvPr/>
        </p:nvSpPr>
        <p:spPr>
          <a:xfrm>
            <a:off x="4892040" y="3328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TenureGroup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892040" y="3593592"/>
            <a:ext cx="3657600" cy="5943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7" name="Text 65"/>
          <p:cNvSpPr/>
          <p:nvPr/>
        </p:nvSpPr>
        <p:spPr>
          <a:xfrm>
            <a:off x="4956048" y="36210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[YearsAtCompany] &lt; 2 then "New"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[YearsAtCompany] &lt; 5 then "Growing"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[YearsAtCompany] &lt; 10 then "Established"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"Veteran"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800600" y="4370832"/>
            <a:ext cx="3840480" cy="6858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69" name="Text 67"/>
          <p:cNvSpPr/>
          <p:nvPr/>
        </p:nvSpPr>
        <p:spPr>
          <a:xfrm>
            <a:off x="4892040" y="4425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PromotionYear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92040" y="4690872"/>
            <a:ext cx="3657600" cy="2743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71" name="Text 69"/>
          <p:cNvSpPr/>
          <p:nvPr/>
        </p:nvSpPr>
        <p:spPr>
          <a:xfrm>
            <a:off x="4956048" y="47183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Column → Date → Year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(extracted from LastPromotionDate)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 5 — DAX MEASURES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886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Total Employees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2468880" cy="9601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Employees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COUNT(hr_attrition_clean_powerbi[EmployeeID])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Counts all employee records. Responds to slicers.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777240"/>
            <a:ext cx="2651760" cy="6400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886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Attrition 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207008"/>
            <a:ext cx="2468880" cy="9601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234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Attrition Count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COUNT([EmployeeID]),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[Attrition] = "Yes"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4612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Counts employees who left. CALCULATE applies the Yes filter.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77724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777240"/>
            <a:ext cx="2651760" cy="6400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48" y="886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Attrition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207008"/>
            <a:ext cx="2468880" cy="9601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234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Attrition Rate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[Attrition Count],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COUNT([EmployeeID]),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8076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% of workforce that left. Formatted as Percentage in Measure Tools.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88036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80360"/>
            <a:ext cx="2651760" cy="640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2990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Avg Monthly Income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310128"/>
            <a:ext cx="2468880" cy="9601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37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Monthly Income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AVERAGE(hr_attrition_clean_powerbi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[MonthlyIncome])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Average salary across filtered context.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54680" y="288036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880360"/>
            <a:ext cx="2651760" cy="64008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30" name="Text 28"/>
          <p:cNvSpPr/>
          <p:nvPr/>
        </p:nvSpPr>
        <p:spPr>
          <a:xfrm>
            <a:off x="3264408" y="2990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4F59"/>
                </a:solidFill>
              </a:rPr>
              <a:t>Highest Attrition Dept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310128"/>
            <a:ext cx="2468880" cy="9601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337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Highest Attrition Dept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MAXX(TOPN(1,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SUMMARIZE(..., "AttrCount",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CALCULATE(COUNT([EmployeeID]),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[Attrition]="Yes")),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[AttrCount], DESC),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[Department])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4612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Returns department name with most attrition using TOPN + SUMMARIZE.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89320" y="2880360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89320" y="2880360"/>
            <a:ext cx="2651760" cy="6400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36" name="Text 34"/>
          <p:cNvSpPr/>
          <p:nvPr/>
        </p:nvSpPr>
        <p:spPr>
          <a:xfrm>
            <a:off x="6099048" y="2990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CAA5"/>
                </a:solidFill>
              </a:rPr>
              <a:t>Lowest Attrition Dept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3310128"/>
            <a:ext cx="2468880" cy="9601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3337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Lowest Attrition Dept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Same as above —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DESC → ASC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08076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Returns department with fewest attrition cases.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— PAGE 1: ATTRITION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500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Employees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64008" cy="9144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822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4B4A"/>
                </a:solidFill>
              </a:rPr>
              <a:t>89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Attrition Count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77724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777240"/>
            <a:ext cx="64008" cy="9144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822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5A30"/>
                </a:solidFill>
              </a:rPr>
              <a:t>17.8%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7220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Attrition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828800"/>
            <a:ext cx="8503920" cy="32004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CHARTS USED ON THIS PAGE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40280"/>
            <a:ext cx="265176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Donut Chart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by Department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Sales has highest attrition (29.21%)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2240280"/>
            <a:ext cx="265176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Bar Chart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4612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by Tenure Group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Established employees leave most (38)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8932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2240280"/>
            <a:ext cx="265176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Bar Chart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by Tenure Group (2)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40-49 age group highest attrition (62)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611880"/>
            <a:ext cx="265176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Bar Chart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Avg Satisfaction by Attrition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Yes (3.12) vs No (3.03) — minimal diff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5468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54680" y="3611880"/>
            <a:ext cx="265176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40" name="Text 38"/>
          <p:cNvSpPr/>
          <p:nvPr/>
        </p:nvSpPr>
        <p:spPr>
          <a:xfrm>
            <a:off x="324612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Slicer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4612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Department filter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4612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Finance, HR, IT, Sales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8932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89320" y="3611880"/>
            <a:ext cx="265176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45" name="Text 43"/>
          <p:cNvSpPr/>
          <p:nvPr/>
        </p:nvSpPr>
        <p:spPr>
          <a:xfrm>
            <a:off x="608076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Slicer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8076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filter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8076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Yes / No toggle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— PAGE 2: SALARY &amp; INCOME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$15.4K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Max Monthly Income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64008" cy="9144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822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</a:rPr>
              <a:t>$3.1K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Min Monthly Income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777240"/>
            <a:ext cx="2606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777240"/>
            <a:ext cx="64008" cy="9144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822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34AB7"/>
                </a:solidFill>
              </a:rPr>
              <a:t>$8.3K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7220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Monthly Income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828800"/>
            <a:ext cx="8503920" cy="32004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CHARTS USED ON THIS PAGE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40280"/>
            <a:ext cx="265176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100% Stacked Bar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Income band by Department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Mid income dominates all departments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2240280"/>
            <a:ext cx="265176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Line Chart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4612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Avg Income by Promotion Year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Income dipped in 2022 then recovered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8932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2240280"/>
            <a:ext cx="265176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Treemap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Employees by Income Band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53% Mid, 30% Low, 17% High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611880"/>
            <a:ext cx="265176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Box &amp; Whisker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Income Spread by Department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IT has highest median salary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5468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54680" y="3611880"/>
            <a:ext cx="265176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40" name="Text 38"/>
          <p:cNvSpPr/>
          <p:nvPr/>
        </p:nvSpPr>
        <p:spPr>
          <a:xfrm>
            <a:off x="324612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Slicer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4612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Department filter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4612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Finance, HR, IT, Sales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8932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89320" y="3611880"/>
            <a:ext cx="265176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45" name="Text 43"/>
          <p:cNvSpPr/>
          <p:nvPr/>
        </p:nvSpPr>
        <p:spPr>
          <a:xfrm>
            <a:off x="608076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Slicer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8076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IncomeBand filter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8076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Low / Mid / High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— PAGE 3: DEPARTMENT PERFORMANCE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22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 Departments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7772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777240"/>
            <a:ext cx="64008" cy="9144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0" name="Text 8"/>
          <p:cNvSpPr/>
          <p:nvPr/>
        </p:nvSpPr>
        <p:spPr>
          <a:xfrm>
            <a:off x="2615184" y="822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B4A"/>
                </a:solidFill>
              </a:rPr>
              <a:t>Sales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15184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Highest Attrition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81144" y="7772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777240"/>
            <a:ext cx="64008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736" y="822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Finance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45736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Lowest Attrition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11696" y="7772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11696" y="777240"/>
            <a:ext cx="64008" cy="9144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6876288" y="822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3.04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76288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Avg Satisfaction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1828800"/>
            <a:ext cx="8503920" cy="32004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CHARTS USED ON THIS PAGE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240280"/>
            <a:ext cx="265176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Ribbon Chart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by Dept over Years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2021 had massive spike in all departments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5468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2240280"/>
            <a:ext cx="265176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Waterfall Chart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4612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Avg Income by Department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4612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Finance contributes most, Sales least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8932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2240280"/>
            <a:ext cx="265176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Radar Chart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Dept: YearsAtCompany vs Satisfaction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8076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Finance employees stay longest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611880"/>
            <a:ext cx="265176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Matrix Table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Department vs AgeGroup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40-49 age group dominates all depts (338)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5468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154680" y="3611880"/>
            <a:ext cx="265176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44" name="Text 42"/>
          <p:cNvSpPr/>
          <p:nvPr/>
        </p:nvSpPr>
        <p:spPr>
          <a:xfrm>
            <a:off x="324612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Slicer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4612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Department filter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4612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Finance, HR, IT, Sales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98932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989320" y="3611880"/>
            <a:ext cx="265176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49" name="Text 47"/>
          <p:cNvSpPr/>
          <p:nvPr/>
        </p:nvSpPr>
        <p:spPr>
          <a:xfrm>
            <a:off x="608076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Slicer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8076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AgeGroup filter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8076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Under 30, 30-39, 40-49, 50+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— PAGE 4: HR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22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500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 Employees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7772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777240"/>
            <a:ext cx="64008" cy="9144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0" name="Text 8"/>
          <p:cNvSpPr/>
          <p:nvPr/>
        </p:nvSpPr>
        <p:spPr>
          <a:xfrm>
            <a:off x="2615184" y="822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B4A"/>
                </a:solidFill>
              </a:rPr>
              <a:t>17.8%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15184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Attrition Rate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81144" y="7772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777240"/>
            <a:ext cx="64008" cy="9144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736" y="822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$8.3K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45736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Avg Income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11696" y="777240"/>
            <a:ext cx="1965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11696" y="777240"/>
            <a:ext cx="64008" cy="9144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6876288" y="822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76288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Avg Years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1828800"/>
            <a:ext cx="8503920" cy="32004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CHARTS USED ON THIS PAGE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240280"/>
            <a:ext cx="2651760" cy="54864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4F59"/>
                </a:solidFill>
              </a:rPr>
              <a:t>Area Chart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Trend by Promo Year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2021 peak — 62 employees left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5468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2240280"/>
            <a:ext cx="2651760" cy="54864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4F59"/>
                </a:solidFill>
              </a:rPr>
              <a:t>Stacked Column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4612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by Dept &amp; Age Group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4612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Sales 40-49 age group highest risk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89320" y="22402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2240280"/>
            <a:ext cx="2651760" cy="54864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4F59"/>
                </a:solidFill>
              </a:rPr>
              <a:t>Gauge Chart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Avg vs Max Monthly Income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8076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$8.3K avg vs $15.4K max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611880"/>
            <a:ext cx="2651760" cy="54864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4F59"/>
                </a:solidFill>
              </a:rPr>
              <a:t>Pie Chart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Split Yes/No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82.2% stayed, 17.8% left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5468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154680" y="3611880"/>
            <a:ext cx="2651760" cy="54864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44" name="Text 42"/>
          <p:cNvSpPr/>
          <p:nvPr/>
        </p:nvSpPr>
        <p:spPr>
          <a:xfrm>
            <a:off x="3246120" y="3703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4F59"/>
                </a:solidFill>
              </a:rPr>
              <a:t>Slicer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4612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Department + Attrition + AgeGroup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46120" y="4297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→ 3 interactive slicers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INSIGHTS FROM THE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18288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6400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886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⚠ Sales Dept Most at Risk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Sales has the highest attrition at 29.21% — nearly 1 in 3 employees leave. Immediate HR attention needed.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51760" cy="18288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2651760" cy="6400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886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</a:rPr>
              <a:t>📅 2021 Attrition Spike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64408" y="1280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62 employees left in 2021 alone — far above any other year. A specific event may have triggered this.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777240"/>
            <a:ext cx="2651760" cy="18288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777240"/>
            <a:ext cx="2651760" cy="640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48" y="886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👴 40-49 Age Group Vulnerable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99048" y="12801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The 40-49 age group accounts for 338 out of 500 employees and has the highest attrition count by group.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2651760" cy="18288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88920"/>
            <a:ext cx="265176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28986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💰 IT Pays Best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" y="32918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IT department has the highest median salary. Low-income bands (Low) are most common in Sales — linked to higher attrition.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2788920"/>
            <a:ext cx="2651760" cy="18288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788920"/>
            <a:ext cx="2651760" cy="64008"/>
          </a:xfrm>
          <a:prstGeom prst="rect">
            <a:avLst/>
          </a:prstGeom>
          <a:solidFill>
            <a:srgbClr val="5DCAA5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28986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CAA5"/>
                </a:solidFill>
              </a:rPr>
              <a:t>📊 Satisfaction Not a Driver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64408" y="32918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Satisfaction scores are nearly identical across all departments (2.90–3.25), suggesting other factors drive attrition.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2788920"/>
            <a:ext cx="2651760" cy="18288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788920"/>
            <a:ext cx="2651760" cy="64008"/>
          </a:xfrm>
          <a:prstGeom prst="rect">
            <a:avLst/>
          </a:prstGeom>
          <a:solidFill>
            <a:srgbClr val="014F59"/>
          </a:solidFill>
          <a:ln/>
        </p:spPr>
      </p:sp>
      <p:sp>
        <p:nvSpPr>
          <p:cNvPr id="26" name="Text 24"/>
          <p:cNvSpPr/>
          <p:nvPr/>
        </p:nvSpPr>
        <p:spPr>
          <a:xfrm>
            <a:off x="6099048" y="28986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4F59"/>
                </a:solidFill>
              </a:rPr>
              <a:t>🏆 Finance Most Stable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99048" y="32918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</a:rPr>
              <a:t>Finance has the lowest attrition and the most experienced workforce. Best practices here should be shared.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5DCAA5"/>
                </a:solidFill>
              </a:rPr>
              <a:t>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411480" y="2816352"/>
            <a:ext cx="822960" cy="347472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8163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520 → 500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Clean employee records after deduplication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26280" y="2816352"/>
            <a:ext cx="822960" cy="347472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8163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 cells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Jupyter notebook covering all cleaning steps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456432"/>
            <a:ext cx="822960" cy="347472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4564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 columns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3493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Final dataset with 4 engineered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3456432"/>
            <a:ext cx="822960" cy="347472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4564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measures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3493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DAX calculations powering the dashboard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096512"/>
            <a:ext cx="822960" cy="347472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0965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pages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4133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Interactive Power BI dashboard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4096512"/>
            <a:ext cx="822960" cy="347472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0965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15+ charts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4133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Unique visualizations across all pages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Dylitica Assignment  •  HR Attrition Analysis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Analysis — Full Project Documentation</dc:title>
  <dc:subject>PptxGenJS Presentation</dc:subject>
  <dc:creator>PptxGenJS</dc:creator>
  <cp:lastModifiedBy>PptxGenJS</cp:lastModifiedBy>
  <cp:revision>1</cp:revision>
  <dcterms:created xsi:type="dcterms:W3CDTF">2026-05-30T15:18:18Z</dcterms:created>
  <dcterms:modified xsi:type="dcterms:W3CDTF">2026-05-30T15:18:18Z</dcterms:modified>
</cp:coreProperties>
</file>